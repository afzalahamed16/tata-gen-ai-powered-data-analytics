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Slab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92" d="100"/>
          <a:sy n="92" d="100"/>
        </p:scale>
        <p:origin x="1186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F7707B7C-6BE4-EE1B-D1A4-D8D2F2CD2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>
            <a:extLst>
              <a:ext uri="{FF2B5EF4-FFF2-40B4-BE49-F238E27FC236}">
                <a16:creationId xmlns:a16="http://schemas.microsoft.com/office/drawing/2014/main" id="{97CB9873-2655-9177-6CCB-55082F02C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>
            <a:extLst>
              <a:ext uri="{FF2B5EF4-FFF2-40B4-BE49-F238E27FC236}">
                <a16:creationId xmlns:a16="http://schemas.microsoft.com/office/drawing/2014/main" id="{4C4E93DF-EF4F-14CD-2122-F34AA8CA20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  <p:extLst>
      <p:ext uri="{BB962C8B-B14F-4D97-AF65-F5344CB8AC3E}">
        <p14:creationId xmlns:p14="http://schemas.microsoft.com/office/powerpoint/2010/main" val="1363126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600" b="1" dirty="0"/>
              <a:t>Inputs</a:t>
            </a:r>
            <a:r>
              <a:rPr lang="en-GB" sz="1600" dirty="0"/>
              <a:t>:</a:t>
            </a:r>
            <a:r>
              <a:rPr lang="en-US" sz="1600" dirty="0"/>
              <a:t> Customer demographics, credit score, income, credit utilization, missed payments, DTI, tenure, payment history</a:t>
            </a:r>
          </a:p>
          <a:p>
            <a:endParaRPr lang="en-US" sz="1600" dirty="0"/>
          </a:p>
          <a:p>
            <a:r>
              <a:rPr lang="en-US" sz="1600" b="1" dirty="0"/>
              <a:t>Decision Logic: </a:t>
            </a:r>
            <a:r>
              <a:rPr lang="en-US" sz="1600" dirty="0"/>
              <a:t>Logistic regression risk prediction combined with business rules</a:t>
            </a:r>
          </a:p>
          <a:p>
            <a:endParaRPr lang="en-US" sz="1600" dirty="0"/>
          </a:p>
          <a:p>
            <a:r>
              <a:rPr lang="en-US" sz="1600" b="1" dirty="0"/>
              <a:t>Actions: </a:t>
            </a:r>
            <a:r>
              <a:rPr lang="en-US" sz="1600" dirty="0"/>
              <a:t>Personalized SMS, email reminders, payment plan suggestions</a:t>
            </a:r>
          </a:p>
          <a:p>
            <a:endParaRPr lang="en-US" sz="1600" dirty="0"/>
          </a:p>
          <a:p>
            <a:r>
              <a:rPr lang="en-US" sz="1600" b="1" dirty="0"/>
              <a:t>Learning: </a:t>
            </a:r>
            <a:r>
              <a:rPr lang="en-US" sz="1600" dirty="0"/>
              <a:t>Customer outcomes used to retrain and improve the model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E78E1E9A-21A5-19B6-A5A0-113FE3221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495FF6BC-92A7-0D69-FA52-50A2E74522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IN" dirty="0"/>
              <a:t>System Workflow</a:t>
            </a:r>
            <a:endParaRPr dirty="0"/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DD62DC17-121C-B841-CA63-4E3747D35E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GB" sz="16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1ED874-33EE-F8BA-BB93-6F92ED95997F}"/>
              </a:ext>
            </a:extLst>
          </p:cNvPr>
          <p:cNvSpPr txBox="1"/>
          <p:nvPr/>
        </p:nvSpPr>
        <p:spPr>
          <a:xfrm>
            <a:off x="562467" y="1597890"/>
            <a:ext cx="167365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Customer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D13B1-3B5C-8ADD-AA58-03FB7D8FD2C2}"/>
              </a:ext>
            </a:extLst>
          </p:cNvPr>
          <p:cNvSpPr txBox="1"/>
          <p:nvPr/>
        </p:nvSpPr>
        <p:spPr>
          <a:xfrm>
            <a:off x="3885521" y="1597890"/>
            <a:ext cx="184126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Risk Prediction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747D74-2488-A73B-40C5-E92E4FDFD045}"/>
              </a:ext>
            </a:extLst>
          </p:cNvPr>
          <p:cNvSpPr txBox="1"/>
          <p:nvPr/>
        </p:nvSpPr>
        <p:spPr>
          <a:xfrm>
            <a:off x="7376187" y="1489824"/>
            <a:ext cx="137991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Risk Segmentation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DF17CE-FF13-F43E-F99D-6ADDC19D7685}"/>
              </a:ext>
            </a:extLst>
          </p:cNvPr>
          <p:cNvSpPr txBox="1"/>
          <p:nvPr/>
        </p:nvSpPr>
        <p:spPr>
          <a:xfrm>
            <a:off x="7376187" y="3524596"/>
            <a:ext cx="144783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Targeted 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5576FF-9516-C631-7654-7B96FDF2CEC3}"/>
              </a:ext>
            </a:extLst>
          </p:cNvPr>
          <p:cNvSpPr txBox="1"/>
          <p:nvPr/>
        </p:nvSpPr>
        <p:spPr>
          <a:xfrm>
            <a:off x="4031673" y="3524596"/>
            <a:ext cx="164660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Outcome Tracking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5A58B0-9395-50A0-2C2D-90A0AEAFC6E5}"/>
              </a:ext>
            </a:extLst>
          </p:cNvPr>
          <p:cNvSpPr txBox="1"/>
          <p:nvPr/>
        </p:nvSpPr>
        <p:spPr>
          <a:xfrm>
            <a:off x="562467" y="3416874"/>
            <a:ext cx="137991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Continuous Improvement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0226F1-2A25-BF46-610B-2A9DE07FD5D6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236124" y="1751779"/>
            <a:ext cx="16493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FB2AA61-9CAE-9150-C087-0297B9958EAB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5726789" y="1751434"/>
            <a:ext cx="1649398" cy="3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0598BF-5554-B4B1-7BE5-85624AFED857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8066144" y="2013044"/>
            <a:ext cx="33959" cy="15115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5E849FC-7475-17ED-1E77-8B8CC23FEB92}"/>
              </a:ext>
            </a:extLst>
          </p:cNvPr>
          <p:cNvCxnSpPr>
            <a:stCxn id="7" idx="1"/>
            <a:endCxn id="8" idx="3"/>
          </p:cNvCxnSpPr>
          <p:nvPr/>
        </p:nvCxnSpPr>
        <p:spPr>
          <a:xfrm flipH="1">
            <a:off x="5678278" y="3678485"/>
            <a:ext cx="16979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5DE2393-440E-F5E2-951D-E213D03218C1}"/>
              </a:ext>
            </a:extLst>
          </p:cNvPr>
          <p:cNvCxnSpPr>
            <a:stCxn id="8" idx="1"/>
            <a:endCxn id="10" idx="3"/>
          </p:cNvCxnSpPr>
          <p:nvPr/>
        </p:nvCxnSpPr>
        <p:spPr>
          <a:xfrm flipH="1" flipV="1">
            <a:off x="1942380" y="3678484"/>
            <a:ext cx="208929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158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dirty="0"/>
              <a:t>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65E618-B8FE-29C7-73BC-F2414C7E8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009860"/>
              </p:ext>
            </p:extLst>
          </p:nvPr>
        </p:nvGraphicFramePr>
        <p:xfrm>
          <a:off x="975360" y="1384173"/>
          <a:ext cx="6181344" cy="2795127"/>
        </p:xfrm>
        <a:graphic>
          <a:graphicData uri="http://schemas.openxmlformats.org/drawingml/2006/table">
            <a:tbl>
              <a:tblPr firstRow="1" bandRow="1">
                <a:tableStyleId>{2E584E98-F22C-4E6F-8C55-6CFEC2229C57}</a:tableStyleId>
              </a:tblPr>
              <a:tblGrid>
                <a:gridCol w="3090672">
                  <a:extLst>
                    <a:ext uri="{9D8B030D-6E8A-4147-A177-3AD203B41FA5}">
                      <a16:colId xmlns:a16="http://schemas.microsoft.com/office/drawing/2014/main" val="1169733897"/>
                    </a:ext>
                  </a:extLst>
                </a:gridCol>
                <a:gridCol w="3090672">
                  <a:extLst>
                    <a:ext uri="{9D8B030D-6E8A-4147-A177-3AD203B41FA5}">
                      <a16:colId xmlns:a16="http://schemas.microsoft.com/office/drawing/2014/main" val="2979225316"/>
                    </a:ext>
                  </a:extLst>
                </a:gridCol>
              </a:tblGrid>
              <a:tr h="4776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1" dirty="0"/>
                        <a:t>Autonomous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1" dirty="0"/>
                        <a:t>Human Oversight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669583"/>
                  </a:ext>
                </a:extLst>
              </a:tr>
              <a:tr h="4776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Risk scoring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Policy approval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0631417"/>
                  </a:ext>
                </a:extLst>
              </a:tr>
              <a:tr h="4776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Channel selection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Hardship plan approval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522528"/>
                  </a:ext>
                </a:extLst>
              </a:tr>
              <a:tr h="4776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Message personalization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Customer disputes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241615"/>
                  </a:ext>
                </a:extLst>
              </a:tr>
              <a:tr h="6310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Follow-up scheduling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Regulatory audits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3432055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15C3CF-D437-F744-6FEF-F1145536E727}"/>
              </a:ext>
            </a:extLst>
          </p:cNvPr>
          <p:cNvCxnSpPr/>
          <p:nvPr/>
        </p:nvCxnSpPr>
        <p:spPr>
          <a:xfrm>
            <a:off x="975360" y="1975104"/>
            <a:ext cx="6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/>
              <a:t>Fairness testing across demographics</a:t>
            </a:r>
          </a:p>
          <a:p>
            <a:r>
              <a:rPr lang="en-US" sz="1600" dirty="0"/>
              <a:t>Explainable model outputs</a:t>
            </a:r>
          </a:p>
          <a:p>
            <a:r>
              <a:rPr lang="en-US" sz="1600" dirty="0"/>
              <a:t>Human-in-the-loop control</a:t>
            </a:r>
          </a:p>
          <a:p>
            <a:r>
              <a:rPr lang="en-US" sz="1600" dirty="0"/>
              <a:t>Privacy and compliance monitoring</a:t>
            </a:r>
          </a:p>
          <a:p>
            <a:r>
              <a:rPr lang="en-US" sz="1600" dirty="0"/>
              <a:t>Continuous bias detection</a:t>
            </a:r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600" dirty="0"/>
              <a:t>Business KPIs:</a:t>
            </a:r>
          </a:p>
          <a:p>
            <a:pPr marL="0" indent="0">
              <a:buNone/>
            </a:pPr>
            <a:r>
              <a:rPr lang="en-US" sz="1600" dirty="0"/>
              <a:t>• 10% reduction in delinquency</a:t>
            </a:r>
          </a:p>
          <a:p>
            <a:pPr marL="0" indent="0">
              <a:buNone/>
            </a:pPr>
            <a:r>
              <a:rPr lang="en-US" sz="1600" dirty="0"/>
              <a:t>• Increased repayment rate</a:t>
            </a:r>
          </a:p>
          <a:p>
            <a:pPr marL="0" indent="0">
              <a:buNone/>
            </a:pPr>
            <a:r>
              <a:rPr lang="en-US" sz="1600" dirty="0"/>
              <a:t>• Lower operational cost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Customer Outcomes:</a:t>
            </a:r>
          </a:p>
          <a:p>
            <a:pPr marL="0" indent="0">
              <a:buNone/>
            </a:pPr>
            <a:r>
              <a:rPr lang="en-US" sz="1600" dirty="0"/>
              <a:t>• Fair treatment</a:t>
            </a:r>
          </a:p>
          <a:p>
            <a:pPr marL="0" indent="0">
              <a:buNone/>
            </a:pPr>
            <a:r>
              <a:rPr lang="en-US" sz="1600" dirty="0"/>
              <a:t>• Personalized communication</a:t>
            </a:r>
          </a:p>
          <a:p>
            <a:pPr marL="0" indent="0">
              <a:buNone/>
            </a:pPr>
            <a:r>
              <a:rPr lang="en-US" sz="1600" dirty="0"/>
              <a:t>• Improved trust</a:t>
            </a:r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This AI-powered collections system enables responsible, scalable, and customer-centric debt management for </a:t>
            </a:r>
            <a:r>
              <a:rPr lang="en-US" dirty="0" err="1"/>
              <a:t>Geldium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This system uses explainable AI and business rules to predict risk, trigger appropriate interventions, and continuously learn from outcomes. </a:t>
            </a:r>
            <a:r>
              <a:rPr lang="en-US"/>
              <a:t>Human oversight ensures fairness, compliance, and customer protection, while automation enables scale and efficiency.</a:t>
            </a: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544</Words>
  <Application>Microsoft Office PowerPoint</Application>
  <PresentationFormat>On-screen Show (16:9)</PresentationFormat>
  <Paragraphs>69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Roboto</vt:lpstr>
      <vt:lpstr>Roboto Slab</vt:lpstr>
      <vt:lpstr>Arial</vt:lpstr>
      <vt:lpstr>Marina</vt:lpstr>
      <vt:lpstr>AI-Powered Collections Strategy</vt:lpstr>
      <vt:lpstr>How the System Works</vt:lpstr>
      <vt:lpstr>System Workflow</vt:lpstr>
      <vt:lpstr>Role of Agentic AI</vt:lpstr>
      <vt:lpstr>Responsible AI Guardrails</vt:lpstr>
      <vt:lpstr>Expected Business Impact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Afzal Ahamed</dc:creator>
  <cp:lastModifiedBy>Afzal Ahamed</cp:lastModifiedBy>
  <cp:revision>3</cp:revision>
  <dcterms:modified xsi:type="dcterms:W3CDTF">2026-01-17T05:28:44Z</dcterms:modified>
</cp:coreProperties>
</file>